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70F22"/>
              </a:gs>
              <a:gs pos="100000">
                <a:srgbClr val="14305C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B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wrap="none"/>
          <a:lstStyle/>
          <a:p>
            <a:pPr algn="ctr"/>
            <a:r>
              <a:rPr sz="1600" b="1">
                <a:solidFill>
                  <a:srgbClr val="F2F6FC"/>
                </a:solidFill>
                <a:latin typeface="微软雅黑"/>
              </a:rPr>
              <a:t>‹‹ 项 目 背 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82880"/>
            <a:ext cx="743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2C44C"/>
                </a:solidFill>
                <a:latin typeface="微软雅黑"/>
              </a:rPr>
              <a:t>PEEK 基复合材料应用需求明确，倒逼高温 LPBF 成形工艺升级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868680"/>
            <a:ext cx="11551920" cy="0"/>
          </a:xfrm>
          <a:prstGeom prst="line">
            <a:avLst/>
          </a:prstGeom>
          <a:ln w="9525">
            <a:solidFill>
              <a:srgbClr val="3D7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024128"/>
            <a:ext cx="5989320" cy="2788920"/>
          </a:xfrm>
          <a:prstGeom prst="roundRect">
            <a:avLst>
              <a:gd name="adj" fmla="val 4000"/>
            </a:avLst>
          </a:prstGeom>
          <a:solidFill>
            <a:srgbClr val="112446"/>
          </a:solidFill>
          <a:ln w="12700">
            <a:solidFill>
              <a:srgbClr val="3D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078992"/>
            <a:ext cx="5769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FC3F7"/>
                </a:solidFill>
                <a:latin typeface="微软雅黑"/>
              </a:rPr>
              <a:t>应用场景 —— PEEK 基复合材料已渗透关键运动部位</a:t>
            </a:r>
          </a:p>
        </p:txBody>
      </p:sp>
      <p:pic>
        <p:nvPicPr>
          <p:cNvPr id="8" name="Picture 7" descr="icon_hi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453896"/>
            <a:ext cx="708660" cy="708660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394460" y="148132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F6FC"/>
                </a:solidFill>
                <a:latin typeface="微软雅黑"/>
              </a:rPr>
              <a:t>航天器铰链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4460" y="1792224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B8C6DA"/>
                </a:solidFill>
                <a:latin typeface="微软雅黑"/>
              </a:rPr>
              <a:t>卫星太阳翼展开机构、锁钩机构</a:t>
            </a:r>
          </a:p>
        </p:txBody>
      </p:sp>
      <p:pic>
        <p:nvPicPr>
          <p:cNvPr id="11" name="Picture 10" descr="icon_sk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572" y="1453896"/>
            <a:ext cx="708660" cy="708660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251960" y="148132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F6FC"/>
                </a:solidFill>
                <a:latin typeface="微软雅黑"/>
              </a:rPr>
              <a:t>PEEK/GF 头骨植入物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792224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B8C6DA"/>
                </a:solidFill>
                <a:latin typeface="微软雅黑"/>
              </a:rPr>
              <a:t>玻纤增强，生物相容+承力兼顾</a:t>
            </a:r>
          </a:p>
        </p:txBody>
      </p:sp>
      <p:pic>
        <p:nvPicPr>
          <p:cNvPr id="14" name="Picture 13" descr="icon_bra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651760"/>
            <a:ext cx="708660" cy="708660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1394460" y="267919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F6FC"/>
                </a:solidFill>
                <a:latin typeface="微软雅黑"/>
              </a:rPr>
              <a:t>PEEK/CF 承力支架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4460" y="2990088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B8C6DA"/>
                </a:solidFill>
                <a:latin typeface="微软雅黑"/>
              </a:rPr>
              <a:t>碳纤增强，轻量化替代金属</a:t>
            </a:r>
          </a:p>
        </p:txBody>
      </p:sp>
      <p:pic>
        <p:nvPicPr>
          <p:cNvPr id="17" name="Picture 16" descr="icon_bear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3572" y="2651760"/>
            <a:ext cx="708660" cy="708660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4251960" y="267919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F2F6FC"/>
                </a:solidFill>
                <a:latin typeface="微软雅黑"/>
              </a:rPr>
              <a:t>PEEK/PTFE 低摩擦构件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990088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B8C6DA"/>
                </a:solidFill>
                <a:latin typeface="微软雅黑"/>
              </a:rPr>
              <a:t>自润滑轴套，免维护运行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024128"/>
            <a:ext cx="4754880" cy="2788920"/>
          </a:xfrm>
          <a:prstGeom prst="roundRect">
            <a:avLst>
              <a:gd name="adj" fmla="val 4000"/>
            </a:avLst>
          </a:prstGeom>
          <a:solidFill>
            <a:srgbClr val="112446"/>
          </a:solidFill>
          <a:ln w="12700">
            <a:solidFill>
              <a:srgbClr val="3D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078992"/>
            <a:ext cx="4535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FC3F7"/>
                </a:solidFill>
                <a:latin typeface="微软雅黑"/>
              </a:rPr>
              <a:t>传统加工 → 普通增材 → 高温 LPBF 的能力递进</a:t>
            </a:r>
          </a:p>
        </p:txBody>
      </p:sp>
      <p:pic>
        <p:nvPicPr>
          <p:cNvPr id="22" name="Picture 21" descr="icon_c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1480413"/>
            <a:ext cx="559612" cy="559612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7399324" y="1399032"/>
            <a:ext cx="37380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F6FC"/>
                </a:solidFill>
                <a:latin typeface="微软雅黑"/>
              </a:rPr>
              <a:t>1. 传统加工受限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9324" y="1682496"/>
            <a:ext cx="37380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8C6DA"/>
                </a:solidFill>
                <a:latin typeface="微软雅黑"/>
              </a:rPr>
              <a:t>铣削/线切割难以成形复杂内腔与一体化流道结构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0972800" y="2130552"/>
            <a:ext cx="201168" cy="146304"/>
          </a:xfrm>
          <a:prstGeom prst="downArrow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_fd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2275941"/>
            <a:ext cx="559612" cy="559612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7399324" y="2194560"/>
            <a:ext cx="37380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F6FC"/>
                </a:solidFill>
                <a:latin typeface="微软雅黑"/>
              </a:rPr>
              <a:t>2. 普通增材难适配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99324" y="2478024"/>
            <a:ext cx="37380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8C6DA"/>
                </a:solidFill>
                <a:latin typeface="微软雅黑"/>
              </a:rPr>
              <a:t>PEEK 熔点 343℃，FDM/普通 SLS 精度低、易翘曲开裂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0972800" y="2926080"/>
            <a:ext cx="201168" cy="146304"/>
          </a:xfrm>
          <a:prstGeom prst="downArrow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on_lpb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3071469"/>
            <a:ext cx="559612" cy="559612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7399324" y="2990088"/>
            <a:ext cx="37380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2C44C"/>
                </a:solidFill>
                <a:latin typeface="微软雅黑"/>
              </a:rPr>
              <a:t>3. 高温 LPBF 可成形复杂结构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9324" y="3273552"/>
            <a:ext cx="37380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B8C6DA"/>
                </a:solidFill>
                <a:latin typeface="微软雅黑"/>
              </a:rPr>
              <a:t>高温预热 + 精密光路，一体化打印点阵/流道等复杂构型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922776"/>
            <a:ext cx="5989320" cy="1691640"/>
          </a:xfrm>
          <a:prstGeom prst="roundRect">
            <a:avLst>
              <a:gd name="adj" fmla="val 4000"/>
            </a:avLst>
          </a:prstGeom>
          <a:solidFill>
            <a:srgbClr val="112446"/>
          </a:solidFill>
          <a:ln w="12700">
            <a:solidFill>
              <a:srgbClr val="3D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3977640"/>
            <a:ext cx="5769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FC3F7"/>
                </a:solidFill>
                <a:latin typeface="微软雅黑"/>
              </a:rPr>
              <a:t>LPBF 成形原理与 PEEK 复合材料制件</a:t>
            </a:r>
          </a:p>
        </p:txBody>
      </p:sp>
      <p:pic>
        <p:nvPicPr>
          <p:cNvPr id="35" name="Picture 34" descr="icon_lpb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4306824"/>
            <a:ext cx="777240" cy="777240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36" name="TextBox 35"/>
          <p:cNvSpPr txBox="1"/>
          <p:nvPr/>
        </p:nvSpPr>
        <p:spPr>
          <a:xfrm>
            <a:off x="502920" y="5138928"/>
            <a:ext cx="1905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2F6FC"/>
                </a:solidFill>
                <a:latin typeface="微软雅黑"/>
              </a:rPr>
              <a:t>① 成形过程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376672"/>
            <a:ext cx="1813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B8C6DA"/>
                </a:solidFill>
                <a:latin typeface="微软雅黑"/>
              </a:rPr>
              <a:t>激光逐层扫描粉床，逐层熔融堆积</a:t>
            </a:r>
          </a:p>
        </p:txBody>
      </p:sp>
      <p:pic>
        <p:nvPicPr>
          <p:cNvPr id="38" name="Picture 37" descr="peek_powde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1800" y="4306824"/>
            <a:ext cx="777240" cy="777240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2407920" y="5138928"/>
            <a:ext cx="1905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2F6FC"/>
                </a:solidFill>
                <a:latin typeface="微软雅黑"/>
              </a:rPr>
              <a:t>② PEEK 基复合粉末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53640" y="5376672"/>
            <a:ext cx="1813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B8C6DA"/>
                </a:solidFill>
                <a:latin typeface="微软雅黑"/>
              </a:rPr>
              <a:t>自润滑填料+PEEK基体，按需定制配比</a:t>
            </a:r>
          </a:p>
        </p:txBody>
      </p:sp>
      <p:pic>
        <p:nvPicPr>
          <p:cNvPr id="41" name="Picture 40" descr="peek_powder_bla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6800" y="4306824"/>
            <a:ext cx="777240" cy="777240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42" name="TextBox 41"/>
          <p:cNvSpPr txBox="1"/>
          <p:nvPr/>
        </p:nvSpPr>
        <p:spPr>
          <a:xfrm>
            <a:off x="4312920" y="5138928"/>
            <a:ext cx="1905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2F6FC"/>
                </a:solidFill>
                <a:latin typeface="微软雅黑"/>
              </a:rPr>
              <a:t>③ 成形构件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58640" y="5376672"/>
            <a:ext cx="1813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B8C6DA"/>
                </a:solidFill>
                <a:latin typeface="微软雅黑"/>
              </a:rPr>
              <a:t>一体化复杂结构，减重且免维护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37960" y="3922776"/>
            <a:ext cx="4754880" cy="1691640"/>
          </a:xfrm>
          <a:prstGeom prst="roundRect">
            <a:avLst>
              <a:gd name="adj" fmla="val 4000"/>
            </a:avLst>
          </a:prstGeom>
          <a:solidFill>
            <a:srgbClr val="112446"/>
          </a:solidFill>
          <a:ln w="12700">
            <a:solidFill>
              <a:srgbClr val="3D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47688" y="3977640"/>
            <a:ext cx="4535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FC3F7"/>
                </a:solidFill>
                <a:latin typeface="微软雅黑"/>
              </a:rPr>
              <a:t>传统材料/工艺性能对比（国内外头部企业口径）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306824"/>
            <a:ext cx="18818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4FC3F7"/>
                </a:solidFill>
                <a:latin typeface="微软雅黑"/>
              </a:rPr>
              <a:t>指标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56955" y="4306824"/>
            <a:ext cx="129936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4FC3F7"/>
                </a:solidFill>
                <a:latin typeface="微软雅黑"/>
              </a:rPr>
              <a:t>国外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56317" y="4306824"/>
            <a:ext cx="129936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4FC3F7"/>
                </a:solidFill>
                <a:latin typeface="微软雅黑"/>
              </a:rPr>
              <a:t>国产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581144"/>
            <a:ext cx="1881835" cy="335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2F6FC"/>
                </a:solidFill>
                <a:latin typeface="微软雅黑"/>
              </a:rPr>
              <a:t>拉伸强度 (MPa)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56955" y="4581144"/>
            <a:ext cx="1299362" cy="335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B8C6DA"/>
                </a:solidFill>
                <a:latin typeface="微软雅黑"/>
              </a:rPr>
              <a:t>95~105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56317" y="4581144"/>
            <a:ext cx="1299362" cy="335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B8C6DA"/>
                </a:solidFill>
                <a:latin typeface="微软雅黑"/>
              </a:rPr>
              <a:t>86~90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4916424"/>
            <a:ext cx="1881835" cy="335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2F6FC"/>
                </a:solidFill>
                <a:latin typeface="微软雅黑"/>
              </a:rPr>
              <a:t>材料摩擦系数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56955" y="4916424"/>
            <a:ext cx="1299362" cy="335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B8C6DA"/>
                </a:solidFill>
                <a:latin typeface="微软雅黑"/>
              </a:rPr>
              <a:t>0.18~0.22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56317" y="4916424"/>
            <a:ext cx="1299362" cy="335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B8C6DA"/>
                </a:solidFill>
                <a:latin typeface="微软雅黑"/>
              </a:rPr>
              <a:t>0.28~0.35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5251704"/>
            <a:ext cx="1881835" cy="335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F2F6FC"/>
                </a:solidFill>
                <a:latin typeface="微软雅黑"/>
              </a:rPr>
              <a:t>成形尺寸误差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6955" y="5251704"/>
            <a:ext cx="1299362" cy="335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B8C6DA"/>
                </a:solidFill>
                <a:latin typeface="微软雅黑"/>
              </a:rPr>
              <a:t>±1.5%~±3%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56317" y="5251704"/>
            <a:ext cx="1299362" cy="335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B8C6DA"/>
                </a:solidFill>
                <a:latin typeface="微软雅黑"/>
              </a:rPr>
              <a:t>±2%~±4%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560527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B8C6DA"/>
                </a:solidFill>
                <a:latin typeface="微软雅黑"/>
              </a:rPr>
              <a:t>注：比较国内外头部企业产品性能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0040" y="6126480"/>
            <a:ext cx="11551920" cy="566928"/>
          </a:xfrm>
          <a:prstGeom prst="roundRect">
            <a:avLst>
              <a:gd name="adj" fmla="val 25000"/>
            </a:avLst>
          </a:prstGeom>
          <a:solidFill>
            <a:srgbClr val="0A1833"/>
          </a:solidFill>
          <a:ln w="12700">
            <a:solidFill>
              <a:srgbClr val="F2C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6126480"/>
            <a:ext cx="1109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F2F6FC"/>
                </a:solidFill>
                <a:latin typeface="微软雅黑"/>
              </a:rPr>
              <a:t>PEEK 基复合材料应用需求明确，但</a:t>
            </a:r>
            <a:r>
              <a:rPr sz="1500" b="1">
                <a:solidFill>
                  <a:srgbClr val="F2C44C"/>
                </a:solidFill>
                <a:latin typeface="微软雅黑"/>
              </a:rPr>
              <a:t>高熔点、低导热和温度窗口敏感</a:t>
            </a:r>
            <a:r>
              <a:rPr sz="1500" b="0">
                <a:solidFill>
                  <a:srgbClr val="F2F6FC"/>
                </a:solidFill>
                <a:latin typeface="微软雅黑"/>
              </a:rPr>
              <a:t>，对 LPBF 成形设备提出更高要求。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70F22"/>
              </a:gs>
              <a:gs pos="100000">
                <a:srgbClr val="14305C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B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wrap="none"/>
          <a:lstStyle/>
          <a:p>
            <a:pPr algn="ctr"/>
            <a:r>
              <a:rPr sz="1600" b="1">
                <a:solidFill>
                  <a:srgbClr val="F2F6FC"/>
                </a:solidFill>
                <a:latin typeface="微软雅黑"/>
              </a:rPr>
              <a:t>‹‹ 项 目 背 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82880"/>
            <a:ext cx="743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2C44C"/>
                </a:solidFill>
                <a:latin typeface="微软雅黑"/>
              </a:rPr>
              <a:t>国产高温 LPBF 成形装备能力不足，过程温控与稳定成形受制于人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868680"/>
            <a:ext cx="11551920" cy="0"/>
          </a:xfrm>
          <a:prstGeom prst="line">
            <a:avLst/>
          </a:prstGeom>
          <a:ln w="9525">
            <a:solidFill>
              <a:srgbClr val="3D7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024128"/>
            <a:ext cx="6126480" cy="1965960"/>
          </a:xfrm>
          <a:prstGeom prst="roundRect">
            <a:avLst>
              <a:gd name="adj" fmla="val 4000"/>
            </a:avLst>
          </a:prstGeom>
          <a:solidFill>
            <a:srgbClr val="112446"/>
          </a:solidFill>
          <a:ln w="12700">
            <a:solidFill>
              <a:srgbClr val="3D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078992"/>
            <a:ext cx="5907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FC3F7"/>
                </a:solidFill>
                <a:latin typeface="微软雅黑"/>
              </a:rPr>
              <a:t>装备能力对比 —— 不止比材料，更要比装备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08176"/>
            <a:ext cx="1404518" cy="388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2F6FC"/>
                </a:solidFill>
                <a:latin typeface="微软雅黑"/>
              </a:rPr>
              <a:t>最高预热温度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7438" y="1408176"/>
            <a:ext cx="2223820" cy="388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4FC3F7"/>
                </a:solidFill>
                <a:latin typeface="微软雅黑"/>
              </a:rPr>
              <a:t>385℃（德国 EOS P800）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1259" y="1408176"/>
            <a:ext cx="2223820" cy="388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B8C6DA"/>
                </a:solidFill>
                <a:latin typeface="微软雅黑"/>
              </a:rPr>
              <a:t>340~380℃（国产装备，口径待统一）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6796"/>
            <a:ext cx="1404518" cy="388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2F6FC"/>
                </a:solidFill>
                <a:latin typeface="微软雅黑"/>
              </a:rPr>
              <a:t>温度场均匀性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7438" y="1796796"/>
            <a:ext cx="2223820" cy="388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4FC3F7"/>
                </a:solidFill>
                <a:latin typeface="微软雅黑"/>
              </a:rPr>
              <a:t>8 区独立温控，波动小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1259" y="1796796"/>
            <a:ext cx="2223820" cy="388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B8C6DA"/>
                </a:solidFill>
                <a:latin typeface="微软雅黑"/>
              </a:rPr>
              <a:t>分区控温程度低，热累积明显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85416"/>
            <a:ext cx="1404518" cy="388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2F6FC"/>
                </a:solidFill>
                <a:latin typeface="微软雅黑"/>
              </a:rPr>
              <a:t>过程监测能力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7438" y="2185416"/>
            <a:ext cx="2223820" cy="388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4FC3F7"/>
                </a:solidFill>
                <a:latin typeface="微软雅黑"/>
              </a:rPr>
              <a:t>在线激光功率反馈调节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1259" y="2185416"/>
            <a:ext cx="2223820" cy="388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B8C6DA"/>
                </a:solidFill>
                <a:latin typeface="微软雅黑"/>
              </a:rPr>
              <a:t>缺乏实时多模态测温反馈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574036"/>
            <a:ext cx="1404518" cy="388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F2F6FC"/>
                </a:solidFill>
                <a:latin typeface="微软雅黑"/>
              </a:rPr>
              <a:t>成形稳定性/精度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7438" y="2574036"/>
            <a:ext cx="2223820" cy="388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4FC3F7"/>
                </a:solidFill>
                <a:latin typeface="微软雅黑"/>
              </a:rPr>
              <a:t>翘曲概率低，尺寸误差小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1259" y="2574036"/>
            <a:ext cx="2223820" cy="3886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B8C6DA"/>
                </a:solidFill>
                <a:latin typeface="微软雅黑"/>
              </a:rPr>
              <a:t>翘曲、结块、粉层开裂时有发生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099816"/>
            <a:ext cx="6126480" cy="2916936"/>
          </a:xfrm>
          <a:prstGeom prst="roundRect">
            <a:avLst>
              <a:gd name="adj" fmla="val 4000"/>
            </a:avLst>
          </a:prstGeom>
          <a:solidFill>
            <a:srgbClr val="112446"/>
          </a:solidFill>
          <a:ln w="12700">
            <a:solidFill>
              <a:srgbClr val="3D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154680"/>
            <a:ext cx="5907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FC3F7"/>
                </a:solidFill>
                <a:latin typeface="微软雅黑"/>
              </a:rPr>
              <a:t>现象证据 —— 当前工艺仍存在热累积、结块与翘曲</a:t>
            </a:r>
          </a:p>
        </p:txBody>
      </p:sp>
      <p:pic>
        <p:nvPicPr>
          <p:cNvPr id="22" name="Picture 21" descr="warp_evidenc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83864"/>
            <a:ext cx="2903220" cy="2139696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502920" y="5669280"/>
            <a:ext cx="29032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2C44C"/>
                </a:solidFill>
                <a:latin typeface="微软雅黑"/>
              </a:rPr>
              <a:t>热累积现象加剧却无法实时控温</a:t>
            </a:r>
          </a:p>
        </p:txBody>
      </p:sp>
      <p:pic>
        <p:nvPicPr>
          <p:cNvPr id="24" name="Picture 23" descr="warp_evidence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0" y="3483864"/>
            <a:ext cx="2903220" cy="2139696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3497580" y="5669280"/>
            <a:ext cx="29032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2C44C"/>
                </a:solidFill>
                <a:latin typeface="微软雅黑"/>
              </a:rPr>
              <a:t>翘曲现象 / 粉层开裂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1024128"/>
            <a:ext cx="4617720" cy="2468880"/>
          </a:xfrm>
          <a:prstGeom prst="roundRect">
            <a:avLst>
              <a:gd name="adj" fmla="val 4000"/>
            </a:avLst>
          </a:prstGeom>
          <a:solidFill>
            <a:srgbClr val="112446"/>
          </a:solidFill>
          <a:ln w="12700">
            <a:solidFill>
              <a:srgbClr val="3D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1078992"/>
            <a:ext cx="4398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FC3F7"/>
                </a:solidFill>
                <a:latin typeface="微软雅黑"/>
              </a:rPr>
              <a:t>政策导向 —— 国产替代需求明确</a:t>
            </a:r>
          </a:p>
        </p:txBody>
      </p:sp>
      <p:pic>
        <p:nvPicPr>
          <p:cNvPr id="28" name="Picture 27" descr="policy_mee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408176"/>
            <a:ext cx="1874519" cy="1049731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pic>
        <p:nvPicPr>
          <p:cNvPr id="29" name="Picture 28" descr="policy_t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2531059"/>
            <a:ext cx="4343400" cy="558396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6812280" y="3127248"/>
            <a:ext cx="4343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B8C6DA"/>
                </a:solidFill>
                <a:latin typeface="微软雅黑"/>
              </a:rPr>
              <a:t>“十五五”规划建议：加快新能源、新材料、航空航天等战略性新兴产业集群发展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3602736"/>
            <a:ext cx="4617720" cy="2414016"/>
          </a:xfrm>
          <a:prstGeom prst="roundRect">
            <a:avLst>
              <a:gd name="adj" fmla="val 4000"/>
            </a:avLst>
          </a:prstGeom>
          <a:solidFill>
            <a:srgbClr val="112446"/>
          </a:solidFill>
          <a:ln w="12700">
            <a:solidFill>
              <a:srgbClr val="3D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84848" y="3657600"/>
            <a:ext cx="43982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FC3F7"/>
                </a:solidFill>
                <a:latin typeface="微软雅黑"/>
              </a:rPr>
              <a:t>全球市场规模潜力巨大</a:t>
            </a:r>
          </a:p>
        </p:txBody>
      </p:sp>
      <p:pic>
        <p:nvPicPr>
          <p:cNvPr id="33" name="Picture 32" descr="chart_lpbf_mar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3986784"/>
            <a:ext cx="2148840" cy="1234440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6812280" y="5248656"/>
            <a:ext cx="2148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B8C6DA"/>
                </a:solidFill>
                <a:latin typeface="微软雅黑"/>
              </a:rPr>
              <a:t>全球 LPBF 技术市场规模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B8C6DA"/>
                </a:solidFill>
                <a:latin typeface="微软雅黑"/>
              </a:rPr>
              <a:t>（单位：亿元）</a:t>
            </a:r>
          </a:p>
        </p:txBody>
      </p:sp>
      <p:pic>
        <p:nvPicPr>
          <p:cNvPr id="35" name="Picture 34" descr="chart_peek_mar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0" y="3986784"/>
            <a:ext cx="2148840" cy="1234440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36" name="TextBox 35"/>
          <p:cNvSpPr txBox="1"/>
          <p:nvPr/>
        </p:nvSpPr>
        <p:spPr>
          <a:xfrm>
            <a:off x="9052560" y="5248656"/>
            <a:ext cx="2148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B8C6DA"/>
                </a:solidFill>
                <a:latin typeface="微软雅黑"/>
              </a:rPr>
              <a:t>全球 PEEK 粉末市场规模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B8C6DA"/>
                </a:solidFill>
                <a:latin typeface="微软雅黑"/>
              </a:rPr>
              <a:t>（单位：亿元）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5669280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F2C44C"/>
                </a:solidFill>
                <a:latin typeface="微软雅黑"/>
              </a:rPr>
              <a:t>高端复合粉末与专用装备高度依赖英国 Victrex、德国 Evonik 等企业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" y="6126480"/>
            <a:ext cx="11551920" cy="566928"/>
          </a:xfrm>
          <a:prstGeom prst="roundRect">
            <a:avLst>
              <a:gd name="adj" fmla="val 25000"/>
            </a:avLst>
          </a:prstGeom>
          <a:solidFill>
            <a:srgbClr val="0A1833"/>
          </a:solidFill>
          <a:ln w="12700">
            <a:solidFill>
              <a:srgbClr val="F2C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126480"/>
            <a:ext cx="1109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F2F6FC"/>
                </a:solidFill>
                <a:latin typeface="微软雅黑"/>
              </a:rPr>
              <a:t>国产 PEEK 基复合粉末与专用高温 LPBF 装备协同不足，</a:t>
            </a:r>
            <a:r>
              <a:rPr sz="1500" b="1">
                <a:solidFill>
                  <a:srgbClr val="F2C44C"/>
                </a:solidFill>
                <a:latin typeface="微软雅黑"/>
              </a:rPr>
              <a:t>过程温控和稳定成形能力仍受制于人</a:t>
            </a:r>
            <a:r>
              <a:rPr sz="1500" b="0">
                <a:solidFill>
                  <a:srgbClr val="F2F6FC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70F22"/>
              </a:gs>
              <a:gs pos="100000">
                <a:srgbClr val="14305C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B3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wrap="none"/>
          <a:lstStyle/>
          <a:p>
            <a:pPr algn="ctr"/>
            <a:r>
              <a:rPr sz="1600" b="1">
                <a:solidFill>
                  <a:srgbClr val="F2F6FC"/>
                </a:solidFill>
                <a:latin typeface="微软雅黑"/>
              </a:rPr>
              <a:t>‹‹ 项 目 背 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82880"/>
            <a:ext cx="743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2C44C"/>
                </a:solidFill>
                <a:latin typeface="微软雅黑"/>
              </a:rPr>
              <a:t>聚焦高温 LPBF 装备核心问题与解决路径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868680"/>
            <a:ext cx="11551920" cy="0"/>
          </a:xfrm>
          <a:prstGeom prst="line">
            <a:avLst/>
          </a:prstGeom>
          <a:ln w="9525">
            <a:solidFill>
              <a:srgbClr val="3D7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051560"/>
            <a:ext cx="3637280" cy="2331720"/>
          </a:xfrm>
          <a:prstGeom prst="roundRect">
            <a:avLst>
              <a:gd name="adj" fmla="val 4000"/>
            </a:avLst>
          </a:prstGeom>
          <a:solidFill>
            <a:srgbClr val="112446"/>
          </a:solidFill>
          <a:ln w="12700">
            <a:solidFill>
              <a:srgbClr val="3D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_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1216152"/>
            <a:ext cx="914400" cy="914400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2221992"/>
            <a:ext cx="336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2C44C"/>
                </a:solidFill>
                <a:latin typeface="微软雅黑"/>
              </a:rPr>
              <a:t>热场控制不足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87752"/>
            <a:ext cx="327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B8C6DA"/>
                </a:solidFill>
                <a:latin typeface="微软雅黑"/>
              </a:rPr>
              <a:t>激光扫描瞬时高温与铺粉降温交替，热累积效应加剧，成形精度难以保证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360" y="1051560"/>
            <a:ext cx="3637280" cy="2331720"/>
          </a:xfrm>
          <a:prstGeom prst="roundRect">
            <a:avLst>
              <a:gd name="adj" fmla="val 4000"/>
            </a:avLst>
          </a:prstGeom>
          <a:solidFill>
            <a:srgbClr val="112446"/>
          </a:solidFill>
          <a:ln w="12700">
            <a:solidFill>
              <a:srgbClr val="3D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_powderb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216152"/>
            <a:ext cx="914400" cy="914400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414520" y="2221992"/>
            <a:ext cx="336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2C44C"/>
                </a:solidFill>
                <a:latin typeface="微软雅黑"/>
              </a:rPr>
              <a:t>粉床稳定性差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0240" y="2587752"/>
            <a:ext cx="327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B8C6DA"/>
                </a:solidFill>
                <a:latin typeface="微软雅黑"/>
              </a:rPr>
              <a:t>铺粉不均、层间结合弱，PEEK 基复合粉末易结块、翘曲甚至粉层开裂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8960" y="1051560"/>
            <a:ext cx="3637280" cy="2331720"/>
          </a:xfrm>
          <a:prstGeom prst="roundRect">
            <a:avLst>
              <a:gd name="adj" fmla="val 4000"/>
            </a:avLst>
          </a:prstGeom>
          <a:solidFill>
            <a:srgbClr val="112446"/>
          </a:solidFill>
          <a:ln w="12700">
            <a:solidFill>
              <a:srgbClr val="3D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qua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400" y="1216152"/>
            <a:ext cx="914400" cy="914400"/>
          </a:xfrm>
          <a:prstGeom prst="rect">
            <a:avLst/>
          </a:prstGeom>
          <a:ln w="9525">
            <a:solidFill>
              <a:srgbClr val="3D7AB8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8326120" y="2221992"/>
            <a:ext cx="336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2C44C"/>
                </a:solidFill>
                <a:latin typeface="微软雅黑"/>
              </a:rPr>
              <a:t>成形质量波动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1840" y="2587752"/>
            <a:ext cx="327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B8C6DA"/>
                </a:solidFill>
                <a:latin typeface="微软雅黑"/>
              </a:rPr>
              <a:t>批次一致性差，复杂构件合格率低，难以满足工程化交付要求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410712"/>
            <a:ext cx="11460480" cy="2212848"/>
          </a:xfrm>
          <a:prstGeom prst="roundRect">
            <a:avLst>
              <a:gd name="adj" fmla="val 4000"/>
            </a:avLst>
          </a:prstGeom>
          <a:solidFill>
            <a:srgbClr val="112446"/>
          </a:solidFill>
          <a:ln w="12700">
            <a:solidFill>
              <a:srgbClr val="3D7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465576"/>
            <a:ext cx="112410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FC3F7"/>
                </a:solidFill>
                <a:latin typeface="微软雅黑"/>
              </a:rPr>
              <a:t>解决路径 —— 把缺陷控制前移到打印过程中</a:t>
            </a:r>
          </a:p>
        </p:txBody>
      </p:sp>
      <p:sp>
        <p:nvSpPr>
          <p:cNvPr id="20" name="Oval 19"/>
          <p:cNvSpPr/>
          <p:nvPr/>
        </p:nvSpPr>
        <p:spPr>
          <a:xfrm>
            <a:off x="1489710" y="3813048"/>
            <a:ext cx="548640" cy="548640"/>
          </a:xfrm>
          <a:prstGeom prst="ellipse">
            <a:avLst/>
          </a:prstGeom>
          <a:solidFill>
            <a:srgbClr val="1B3E74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2C44C"/>
                </a:solidFill>
                <a:latin typeface="微软雅黑"/>
              </a:rPr>
              <a:t>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471416"/>
            <a:ext cx="27965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2F6FC"/>
                </a:solidFill>
                <a:latin typeface="微软雅黑"/>
              </a:rPr>
              <a:t>实时监测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73168"/>
            <a:ext cx="26136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8C6DA"/>
                </a:solidFill>
                <a:latin typeface="微软雅黑"/>
              </a:rPr>
              <a:t>多模态点面协同测温，精确感知高温粉床热环境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144012" y="3977640"/>
            <a:ext cx="256032" cy="182880"/>
          </a:xfrm>
          <a:prstGeom prst="rightArrow">
            <a:avLst/>
          </a:prstGeom>
          <a:solidFill>
            <a:srgbClr val="F2C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77690" y="3813048"/>
            <a:ext cx="548640" cy="548640"/>
          </a:xfrm>
          <a:prstGeom prst="ellipse">
            <a:avLst/>
          </a:prstGeom>
          <a:solidFill>
            <a:srgbClr val="1B3E74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2C44C"/>
                </a:solidFill>
                <a:latin typeface="微软雅黑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53740" y="4471416"/>
            <a:ext cx="27965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2F6FC"/>
                </a:solidFill>
                <a:latin typeface="微软雅黑"/>
              </a:rPr>
              <a:t>精确调控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45180" y="4773168"/>
            <a:ext cx="26136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8C6DA"/>
                </a:solidFill>
                <a:latin typeface="微软雅黑"/>
              </a:rPr>
              <a:t>多区域协同温度场闭环智能调控，抑制热累积与翘曲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031992" y="3977640"/>
            <a:ext cx="256032" cy="182880"/>
          </a:xfrm>
          <a:prstGeom prst="rightArrow">
            <a:avLst/>
          </a:prstGeom>
          <a:solidFill>
            <a:srgbClr val="F2C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65670" y="3813048"/>
            <a:ext cx="548640" cy="548640"/>
          </a:xfrm>
          <a:prstGeom prst="ellipse">
            <a:avLst/>
          </a:prstGeom>
          <a:solidFill>
            <a:srgbClr val="1B3E74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2C44C"/>
                </a:solidFill>
                <a:latin typeface="微软雅黑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1720" y="4471416"/>
            <a:ext cx="27965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2F6FC"/>
                </a:solidFill>
                <a:latin typeface="微软雅黑"/>
              </a:rPr>
              <a:t>数据采集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3160" y="4773168"/>
            <a:ext cx="26136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8C6DA"/>
                </a:solidFill>
                <a:latin typeface="微软雅黑"/>
              </a:rPr>
              <a:t>构建工艺-微结构-性能数据库，沉淀多工况实验数据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919972" y="3977640"/>
            <a:ext cx="256032" cy="182880"/>
          </a:xfrm>
          <a:prstGeom prst="rightArrow">
            <a:avLst/>
          </a:prstGeom>
          <a:solidFill>
            <a:srgbClr val="F2C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53650" y="3813048"/>
            <a:ext cx="548640" cy="548640"/>
          </a:xfrm>
          <a:prstGeom prst="ellipse">
            <a:avLst/>
          </a:prstGeom>
          <a:solidFill>
            <a:srgbClr val="1B3E74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2C44C"/>
                </a:solidFill>
                <a:latin typeface="微软雅黑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9700" y="4471416"/>
            <a:ext cx="27965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2F6FC"/>
                </a:solidFill>
                <a:latin typeface="微软雅黑"/>
              </a:rPr>
              <a:t>映射关系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1140" y="4773168"/>
            <a:ext cx="26136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>
                <a:solidFill>
                  <a:srgbClr val="B8C6DA"/>
                </a:solidFill>
                <a:latin typeface="微软雅黑"/>
              </a:rPr>
              <a:t>机器学习建模指导工艺优化，反演最优成形参数组合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6126480"/>
            <a:ext cx="11551920" cy="566928"/>
          </a:xfrm>
          <a:prstGeom prst="roundRect">
            <a:avLst>
              <a:gd name="adj" fmla="val 25000"/>
            </a:avLst>
          </a:prstGeom>
          <a:solidFill>
            <a:srgbClr val="0A1833"/>
          </a:solidFill>
          <a:ln w="12700">
            <a:solidFill>
              <a:srgbClr val="F2C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126480"/>
            <a:ext cx="1109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F2F6FC"/>
                </a:solidFill>
                <a:latin typeface="微软雅黑"/>
              </a:rPr>
              <a:t>项目聚焦高温 LPBF 成形设备，通过</a:t>
            </a:r>
            <a:r>
              <a:rPr sz="1500" b="1">
                <a:solidFill>
                  <a:srgbClr val="F2C44C"/>
                </a:solidFill>
                <a:latin typeface="微软雅黑"/>
              </a:rPr>
              <a:t>温度场监测和过程调控</a:t>
            </a:r>
            <a:r>
              <a:rPr sz="1500" b="0">
                <a:solidFill>
                  <a:srgbClr val="F2F6FC"/>
                </a:solidFill>
                <a:latin typeface="微软雅黑"/>
              </a:rPr>
              <a:t>，把缺陷控制前移到打印过程中，提高 PEEK 基复合构件成形稳定性。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